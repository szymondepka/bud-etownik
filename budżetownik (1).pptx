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57" r:id="rId6"/>
    <p:sldId id="264" r:id="rId7"/>
    <p:sldId id="261" r:id="rId8"/>
    <p:sldId id="258" r:id="rId9"/>
    <p:sldId id="266" r:id="rId10"/>
    <p:sldId id="267" r:id="rId11"/>
    <p:sldId id="268" r:id="rId12"/>
    <p:sldId id="265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67957-5D30-45AB-B89E-1E10CC2417E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CD46AF1-C933-487E-B2D4-EFF81FB78C65}">
      <dgm:prSet/>
      <dgm:spPr/>
      <dgm:t>
        <a:bodyPr/>
        <a:lstStyle/>
        <a:p>
          <a:r>
            <a:rPr lang="pl-PL"/>
            <a:t>Podstawowa zasada: wydatki nie mogą przekraczać przychodów</a:t>
          </a:r>
          <a:endParaRPr lang="en-US"/>
        </a:p>
      </dgm:t>
    </dgm:pt>
    <dgm:pt modelId="{8BF6D7E7-ADFB-470A-82A1-D5D1FE80235F}" type="parTrans" cxnId="{277AB765-EEE8-4901-AA61-3A969585689F}">
      <dgm:prSet/>
      <dgm:spPr/>
      <dgm:t>
        <a:bodyPr/>
        <a:lstStyle/>
        <a:p>
          <a:endParaRPr lang="en-US"/>
        </a:p>
      </dgm:t>
    </dgm:pt>
    <dgm:pt modelId="{910CA758-B4E3-404E-B778-7F08C0F469DE}" type="sibTrans" cxnId="{277AB765-EEE8-4901-AA61-3A969585689F}">
      <dgm:prSet/>
      <dgm:spPr/>
      <dgm:t>
        <a:bodyPr/>
        <a:lstStyle/>
        <a:p>
          <a:endParaRPr lang="en-US"/>
        </a:p>
      </dgm:t>
    </dgm:pt>
    <dgm:pt modelId="{878F2117-FBD5-4C84-8A71-2D984B6EDFFF}">
      <dgm:prSet/>
      <dgm:spPr/>
      <dgm:t>
        <a:bodyPr/>
        <a:lstStyle/>
        <a:p>
          <a:r>
            <a:rPr lang="pl-PL"/>
            <a:t>Zasada 50/30/20</a:t>
          </a:r>
          <a:endParaRPr lang="en-US"/>
        </a:p>
      </dgm:t>
    </dgm:pt>
    <dgm:pt modelId="{FAFBA088-BB48-4C22-BF24-7CA6DD5EC246}" type="parTrans" cxnId="{45CC823E-ED6B-4AAB-A3E0-9BFD3C2943FB}">
      <dgm:prSet/>
      <dgm:spPr/>
      <dgm:t>
        <a:bodyPr/>
        <a:lstStyle/>
        <a:p>
          <a:endParaRPr lang="en-US"/>
        </a:p>
      </dgm:t>
    </dgm:pt>
    <dgm:pt modelId="{8B0F3847-9F10-4ACE-920A-809BD86834A2}" type="sibTrans" cxnId="{45CC823E-ED6B-4AAB-A3E0-9BFD3C2943FB}">
      <dgm:prSet/>
      <dgm:spPr/>
      <dgm:t>
        <a:bodyPr/>
        <a:lstStyle/>
        <a:p>
          <a:endParaRPr lang="en-US"/>
        </a:p>
      </dgm:t>
    </dgm:pt>
    <dgm:pt modelId="{4D99BBF6-0BA5-4FB0-B8BF-12C18602BF1F}" type="pres">
      <dgm:prSet presAssocID="{24E67957-5D30-45AB-B89E-1E10CC2417E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FE8A87-B7CE-4771-A409-A8F2BD6959A6}" type="pres">
      <dgm:prSet presAssocID="{BCD46AF1-C933-487E-B2D4-EFF81FB78C65}" presName="hierRoot1" presStyleCnt="0"/>
      <dgm:spPr/>
    </dgm:pt>
    <dgm:pt modelId="{440BC497-AEF6-4FBA-917E-333357354D65}" type="pres">
      <dgm:prSet presAssocID="{BCD46AF1-C933-487E-B2D4-EFF81FB78C65}" presName="composite" presStyleCnt="0"/>
      <dgm:spPr/>
    </dgm:pt>
    <dgm:pt modelId="{90D6078A-7FF5-4B64-9011-989BE3342020}" type="pres">
      <dgm:prSet presAssocID="{BCD46AF1-C933-487E-B2D4-EFF81FB78C65}" presName="background" presStyleLbl="node0" presStyleIdx="0" presStyleCnt="2"/>
      <dgm:spPr/>
    </dgm:pt>
    <dgm:pt modelId="{F3BDEA66-5A71-4102-B7AC-0ADB08D62F6A}" type="pres">
      <dgm:prSet presAssocID="{BCD46AF1-C933-487E-B2D4-EFF81FB78C65}" presName="text" presStyleLbl="fgAcc0" presStyleIdx="0" presStyleCnt="2">
        <dgm:presLayoutVars>
          <dgm:chPref val="3"/>
        </dgm:presLayoutVars>
      </dgm:prSet>
      <dgm:spPr/>
    </dgm:pt>
    <dgm:pt modelId="{F9C893F9-A6E5-4F2E-AFC3-06BB469A2BFC}" type="pres">
      <dgm:prSet presAssocID="{BCD46AF1-C933-487E-B2D4-EFF81FB78C65}" presName="hierChild2" presStyleCnt="0"/>
      <dgm:spPr/>
    </dgm:pt>
    <dgm:pt modelId="{192BD711-A727-406A-9573-5CB1808DB63C}" type="pres">
      <dgm:prSet presAssocID="{878F2117-FBD5-4C84-8A71-2D984B6EDFFF}" presName="hierRoot1" presStyleCnt="0"/>
      <dgm:spPr/>
    </dgm:pt>
    <dgm:pt modelId="{963F0B6A-8A60-4021-9A7D-98FD38FD5C02}" type="pres">
      <dgm:prSet presAssocID="{878F2117-FBD5-4C84-8A71-2D984B6EDFFF}" presName="composite" presStyleCnt="0"/>
      <dgm:spPr/>
    </dgm:pt>
    <dgm:pt modelId="{E4EB9AA7-9B54-444A-9DF6-3B5D14A561A5}" type="pres">
      <dgm:prSet presAssocID="{878F2117-FBD5-4C84-8A71-2D984B6EDFFF}" presName="background" presStyleLbl="node0" presStyleIdx="1" presStyleCnt="2"/>
      <dgm:spPr/>
    </dgm:pt>
    <dgm:pt modelId="{0F4CC822-14C5-49E1-BB78-37D219F53F42}" type="pres">
      <dgm:prSet presAssocID="{878F2117-FBD5-4C84-8A71-2D984B6EDFFF}" presName="text" presStyleLbl="fgAcc0" presStyleIdx="1" presStyleCnt="2">
        <dgm:presLayoutVars>
          <dgm:chPref val="3"/>
        </dgm:presLayoutVars>
      </dgm:prSet>
      <dgm:spPr/>
    </dgm:pt>
    <dgm:pt modelId="{751B67FD-EB5F-4640-81D6-15B04A54A30C}" type="pres">
      <dgm:prSet presAssocID="{878F2117-FBD5-4C84-8A71-2D984B6EDFFF}" presName="hierChild2" presStyleCnt="0"/>
      <dgm:spPr/>
    </dgm:pt>
  </dgm:ptLst>
  <dgm:cxnLst>
    <dgm:cxn modelId="{40FD4E14-BEB6-4E10-AF45-2A87A2E15ACC}" type="presOf" srcId="{24E67957-5D30-45AB-B89E-1E10CC2417E3}" destId="{4D99BBF6-0BA5-4FB0-B8BF-12C18602BF1F}" srcOrd="0" destOrd="0" presId="urn:microsoft.com/office/officeart/2005/8/layout/hierarchy1"/>
    <dgm:cxn modelId="{45CC823E-ED6B-4AAB-A3E0-9BFD3C2943FB}" srcId="{24E67957-5D30-45AB-B89E-1E10CC2417E3}" destId="{878F2117-FBD5-4C84-8A71-2D984B6EDFFF}" srcOrd="1" destOrd="0" parTransId="{FAFBA088-BB48-4C22-BF24-7CA6DD5EC246}" sibTransId="{8B0F3847-9F10-4ACE-920A-809BD86834A2}"/>
    <dgm:cxn modelId="{277AB765-EEE8-4901-AA61-3A969585689F}" srcId="{24E67957-5D30-45AB-B89E-1E10CC2417E3}" destId="{BCD46AF1-C933-487E-B2D4-EFF81FB78C65}" srcOrd="0" destOrd="0" parTransId="{8BF6D7E7-ADFB-470A-82A1-D5D1FE80235F}" sibTransId="{910CA758-B4E3-404E-B778-7F08C0F469DE}"/>
    <dgm:cxn modelId="{B82DFE9F-8BB8-45F4-8534-CFB17418F606}" type="presOf" srcId="{BCD46AF1-C933-487E-B2D4-EFF81FB78C65}" destId="{F3BDEA66-5A71-4102-B7AC-0ADB08D62F6A}" srcOrd="0" destOrd="0" presId="urn:microsoft.com/office/officeart/2005/8/layout/hierarchy1"/>
    <dgm:cxn modelId="{DF6BB3FB-BC7E-4B40-866B-58B57313364C}" type="presOf" srcId="{878F2117-FBD5-4C84-8A71-2D984B6EDFFF}" destId="{0F4CC822-14C5-49E1-BB78-37D219F53F42}" srcOrd="0" destOrd="0" presId="urn:microsoft.com/office/officeart/2005/8/layout/hierarchy1"/>
    <dgm:cxn modelId="{E64A67EB-55DA-4D09-B5F2-DB491CCDFE0C}" type="presParOf" srcId="{4D99BBF6-0BA5-4FB0-B8BF-12C18602BF1F}" destId="{E9FE8A87-B7CE-4771-A409-A8F2BD6959A6}" srcOrd="0" destOrd="0" presId="urn:microsoft.com/office/officeart/2005/8/layout/hierarchy1"/>
    <dgm:cxn modelId="{21A5F8D5-C44F-41B7-B979-C9C2FACA5C64}" type="presParOf" srcId="{E9FE8A87-B7CE-4771-A409-A8F2BD6959A6}" destId="{440BC497-AEF6-4FBA-917E-333357354D65}" srcOrd="0" destOrd="0" presId="urn:microsoft.com/office/officeart/2005/8/layout/hierarchy1"/>
    <dgm:cxn modelId="{D590D882-07A9-46DB-BA32-C1DA64AEC100}" type="presParOf" srcId="{440BC497-AEF6-4FBA-917E-333357354D65}" destId="{90D6078A-7FF5-4B64-9011-989BE3342020}" srcOrd="0" destOrd="0" presId="urn:microsoft.com/office/officeart/2005/8/layout/hierarchy1"/>
    <dgm:cxn modelId="{DE7521EE-2C43-4EC6-A76B-B410405F434D}" type="presParOf" srcId="{440BC497-AEF6-4FBA-917E-333357354D65}" destId="{F3BDEA66-5A71-4102-B7AC-0ADB08D62F6A}" srcOrd="1" destOrd="0" presId="urn:microsoft.com/office/officeart/2005/8/layout/hierarchy1"/>
    <dgm:cxn modelId="{1D4D2E3C-030C-498E-A8DC-0165DEB17280}" type="presParOf" srcId="{E9FE8A87-B7CE-4771-A409-A8F2BD6959A6}" destId="{F9C893F9-A6E5-4F2E-AFC3-06BB469A2BFC}" srcOrd="1" destOrd="0" presId="urn:microsoft.com/office/officeart/2005/8/layout/hierarchy1"/>
    <dgm:cxn modelId="{13E9CAA6-65DB-4274-92AA-0C385AD6A5A3}" type="presParOf" srcId="{4D99BBF6-0BA5-4FB0-B8BF-12C18602BF1F}" destId="{192BD711-A727-406A-9573-5CB1808DB63C}" srcOrd="1" destOrd="0" presId="urn:microsoft.com/office/officeart/2005/8/layout/hierarchy1"/>
    <dgm:cxn modelId="{D115CAB3-74BD-4D5F-9607-493B4DF2BE14}" type="presParOf" srcId="{192BD711-A727-406A-9573-5CB1808DB63C}" destId="{963F0B6A-8A60-4021-9A7D-98FD38FD5C02}" srcOrd="0" destOrd="0" presId="urn:microsoft.com/office/officeart/2005/8/layout/hierarchy1"/>
    <dgm:cxn modelId="{7558067F-289C-4EC2-A2B9-4077C21EEB07}" type="presParOf" srcId="{963F0B6A-8A60-4021-9A7D-98FD38FD5C02}" destId="{E4EB9AA7-9B54-444A-9DF6-3B5D14A561A5}" srcOrd="0" destOrd="0" presId="urn:microsoft.com/office/officeart/2005/8/layout/hierarchy1"/>
    <dgm:cxn modelId="{76A6291F-1DF7-4245-B281-3BE8DABA0506}" type="presParOf" srcId="{963F0B6A-8A60-4021-9A7D-98FD38FD5C02}" destId="{0F4CC822-14C5-49E1-BB78-37D219F53F42}" srcOrd="1" destOrd="0" presId="urn:microsoft.com/office/officeart/2005/8/layout/hierarchy1"/>
    <dgm:cxn modelId="{2F569448-C6C5-447B-8F34-9440C4743509}" type="presParOf" srcId="{192BD711-A727-406A-9573-5CB1808DB63C}" destId="{751B67FD-EB5F-4640-81D6-15B04A54A30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2BA659-5565-4EF8-BCCD-78E66D20CF5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DE54151-00E4-4FA5-96B4-37314F0F6F7E}">
      <dgm:prSet/>
      <dgm:spPr/>
      <dgm:t>
        <a:bodyPr/>
        <a:lstStyle/>
        <a:p>
          <a:r>
            <a:rPr lang="pl-PL"/>
            <a:t>Przychody stałe: pensja, świadczenia socjalne</a:t>
          </a:r>
          <a:endParaRPr lang="en-US"/>
        </a:p>
      </dgm:t>
    </dgm:pt>
    <dgm:pt modelId="{3E8436F0-A9D8-4765-ABC2-FD2AA3883666}" type="parTrans" cxnId="{B742EED0-E428-459A-8465-C7784226F61F}">
      <dgm:prSet/>
      <dgm:spPr/>
      <dgm:t>
        <a:bodyPr/>
        <a:lstStyle/>
        <a:p>
          <a:endParaRPr lang="en-US"/>
        </a:p>
      </dgm:t>
    </dgm:pt>
    <dgm:pt modelId="{715C03F3-96D5-4F20-B098-191B0342E7AC}" type="sibTrans" cxnId="{B742EED0-E428-459A-8465-C7784226F61F}">
      <dgm:prSet/>
      <dgm:spPr/>
      <dgm:t>
        <a:bodyPr/>
        <a:lstStyle/>
        <a:p>
          <a:endParaRPr lang="en-US"/>
        </a:p>
      </dgm:t>
    </dgm:pt>
    <dgm:pt modelId="{7615E57B-9C61-4CAF-9D8C-470FCB5879E2}">
      <dgm:prSet/>
      <dgm:spPr/>
      <dgm:t>
        <a:bodyPr/>
        <a:lstStyle/>
        <a:p>
          <a:r>
            <a:rPr lang="pl-PL"/>
            <a:t>Przychody zmienne:premie w pracy, zwrot podatku, odsetki z inwestycji, spadki, darowizny</a:t>
          </a:r>
          <a:endParaRPr lang="en-US"/>
        </a:p>
      </dgm:t>
    </dgm:pt>
    <dgm:pt modelId="{5BCE72E3-CC28-4D86-948E-96CA9B099204}" type="parTrans" cxnId="{65AF7EB6-03B2-4D24-BEE0-6990858094D2}">
      <dgm:prSet/>
      <dgm:spPr/>
      <dgm:t>
        <a:bodyPr/>
        <a:lstStyle/>
        <a:p>
          <a:endParaRPr lang="en-US"/>
        </a:p>
      </dgm:t>
    </dgm:pt>
    <dgm:pt modelId="{C5AE719E-A350-4B78-AE37-BC56BD3C87CA}" type="sibTrans" cxnId="{65AF7EB6-03B2-4D24-BEE0-6990858094D2}">
      <dgm:prSet/>
      <dgm:spPr/>
      <dgm:t>
        <a:bodyPr/>
        <a:lstStyle/>
        <a:p>
          <a:endParaRPr lang="en-US"/>
        </a:p>
      </dgm:t>
    </dgm:pt>
    <dgm:pt modelId="{BB4A2368-FE80-466A-9825-B5BDD4BD9D73}" type="pres">
      <dgm:prSet presAssocID="{B92BA659-5565-4EF8-BCCD-78E66D20CF54}" presName="root" presStyleCnt="0">
        <dgm:presLayoutVars>
          <dgm:dir/>
          <dgm:resizeHandles val="exact"/>
        </dgm:presLayoutVars>
      </dgm:prSet>
      <dgm:spPr/>
    </dgm:pt>
    <dgm:pt modelId="{2A4CF068-BBAB-432C-A6A8-8B2310879B98}" type="pres">
      <dgm:prSet presAssocID="{6DE54151-00E4-4FA5-96B4-37314F0F6F7E}" presName="compNode" presStyleCnt="0"/>
      <dgm:spPr/>
    </dgm:pt>
    <dgm:pt modelId="{B27BBEF2-DD74-41A3-ADC5-EEAE866929F6}" type="pres">
      <dgm:prSet presAssocID="{6DE54151-00E4-4FA5-96B4-37314F0F6F7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257A41DE-8892-4C3C-8F3A-9495C65CF76C}" type="pres">
      <dgm:prSet presAssocID="{6DE54151-00E4-4FA5-96B4-37314F0F6F7E}" presName="spaceRect" presStyleCnt="0"/>
      <dgm:spPr/>
    </dgm:pt>
    <dgm:pt modelId="{3CE6122D-8C9A-4951-ADE7-A3062E2842CC}" type="pres">
      <dgm:prSet presAssocID="{6DE54151-00E4-4FA5-96B4-37314F0F6F7E}" presName="textRect" presStyleLbl="revTx" presStyleIdx="0" presStyleCnt="2">
        <dgm:presLayoutVars>
          <dgm:chMax val="1"/>
          <dgm:chPref val="1"/>
        </dgm:presLayoutVars>
      </dgm:prSet>
      <dgm:spPr/>
    </dgm:pt>
    <dgm:pt modelId="{4B50E9E0-2AA5-4A08-B798-DA939D88D6B9}" type="pres">
      <dgm:prSet presAssocID="{715C03F3-96D5-4F20-B098-191B0342E7AC}" presName="sibTrans" presStyleCnt="0"/>
      <dgm:spPr/>
    </dgm:pt>
    <dgm:pt modelId="{01202FDD-EE4A-47D6-B06E-371434632216}" type="pres">
      <dgm:prSet presAssocID="{7615E57B-9C61-4CAF-9D8C-470FCB5879E2}" presName="compNode" presStyleCnt="0"/>
      <dgm:spPr/>
    </dgm:pt>
    <dgm:pt modelId="{12C63345-02B5-464B-AFF7-AECE3B09D5D6}" type="pres">
      <dgm:prSet presAssocID="{7615E57B-9C61-4CAF-9D8C-470FCB5879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ar"/>
        </a:ext>
      </dgm:extLst>
    </dgm:pt>
    <dgm:pt modelId="{69AA0EF4-7994-41DB-BD8F-A599685E1730}" type="pres">
      <dgm:prSet presAssocID="{7615E57B-9C61-4CAF-9D8C-470FCB5879E2}" presName="spaceRect" presStyleCnt="0"/>
      <dgm:spPr/>
    </dgm:pt>
    <dgm:pt modelId="{B8460D45-FB46-43E4-B3EF-DD8279B03BCB}" type="pres">
      <dgm:prSet presAssocID="{7615E57B-9C61-4CAF-9D8C-470FCB5879E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1034043-507A-484B-A73E-B88E81FB947F}" type="presOf" srcId="{B92BA659-5565-4EF8-BCCD-78E66D20CF54}" destId="{BB4A2368-FE80-466A-9825-B5BDD4BD9D73}" srcOrd="0" destOrd="0" presId="urn:microsoft.com/office/officeart/2018/2/layout/IconLabelList"/>
    <dgm:cxn modelId="{062E62AD-66C3-416D-B3E0-EDA38F1D5CA8}" type="presOf" srcId="{6DE54151-00E4-4FA5-96B4-37314F0F6F7E}" destId="{3CE6122D-8C9A-4951-ADE7-A3062E2842CC}" srcOrd="0" destOrd="0" presId="urn:microsoft.com/office/officeart/2018/2/layout/IconLabelList"/>
    <dgm:cxn modelId="{65AF7EB6-03B2-4D24-BEE0-6990858094D2}" srcId="{B92BA659-5565-4EF8-BCCD-78E66D20CF54}" destId="{7615E57B-9C61-4CAF-9D8C-470FCB5879E2}" srcOrd="1" destOrd="0" parTransId="{5BCE72E3-CC28-4D86-948E-96CA9B099204}" sibTransId="{C5AE719E-A350-4B78-AE37-BC56BD3C87CA}"/>
    <dgm:cxn modelId="{B742EED0-E428-459A-8465-C7784226F61F}" srcId="{B92BA659-5565-4EF8-BCCD-78E66D20CF54}" destId="{6DE54151-00E4-4FA5-96B4-37314F0F6F7E}" srcOrd="0" destOrd="0" parTransId="{3E8436F0-A9D8-4765-ABC2-FD2AA3883666}" sibTransId="{715C03F3-96D5-4F20-B098-191B0342E7AC}"/>
    <dgm:cxn modelId="{FECF0DDD-4BC1-4F63-ADD4-39FBC39FC2EB}" type="presOf" srcId="{7615E57B-9C61-4CAF-9D8C-470FCB5879E2}" destId="{B8460D45-FB46-43E4-B3EF-DD8279B03BCB}" srcOrd="0" destOrd="0" presId="urn:microsoft.com/office/officeart/2018/2/layout/IconLabelList"/>
    <dgm:cxn modelId="{20CDD1AD-B8EF-401F-AF8E-6AA7C4B7B605}" type="presParOf" srcId="{BB4A2368-FE80-466A-9825-B5BDD4BD9D73}" destId="{2A4CF068-BBAB-432C-A6A8-8B2310879B98}" srcOrd="0" destOrd="0" presId="urn:microsoft.com/office/officeart/2018/2/layout/IconLabelList"/>
    <dgm:cxn modelId="{9A1E817D-39D1-4274-AD85-26EEDA9BDB63}" type="presParOf" srcId="{2A4CF068-BBAB-432C-A6A8-8B2310879B98}" destId="{B27BBEF2-DD74-41A3-ADC5-EEAE866929F6}" srcOrd="0" destOrd="0" presId="urn:microsoft.com/office/officeart/2018/2/layout/IconLabelList"/>
    <dgm:cxn modelId="{96A85A35-71AB-43F3-B03F-133894D0FC9B}" type="presParOf" srcId="{2A4CF068-BBAB-432C-A6A8-8B2310879B98}" destId="{257A41DE-8892-4C3C-8F3A-9495C65CF76C}" srcOrd="1" destOrd="0" presId="urn:microsoft.com/office/officeart/2018/2/layout/IconLabelList"/>
    <dgm:cxn modelId="{089B1C1A-477C-4B9E-9787-A25E74CCB099}" type="presParOf" srcId="{2A4CF068-BBAB-432C-A6A8-8B2310879B98}" destId="{3CE6122D-8C9A-4951-ADE7-A3062E2842CC}" srcOrd="2" destOrd="0" presId="urn:microsoft.com/office/officeart/2018/2/layout/IconLabelList"/>
    <dgm:cxn modelId="{9D3C81B1-D432-4A91-93F8-6E75B94AF422}" type="presParOf" srcId="{BB4A2368-FE80-466A-9825-B5BDD4BD9D73}" destId="{4B50E9E0-2AA5-4A08-B798-DA939D88D6B9}" srcOrd="1" destOrd="0" presId="urn:microsoft.com/office/officeart/2018/2/layout/IconLabelList"/>
    <dgm:cxn modelId="{F71FA6E6-8724-4E93-AFD9-379563DE956B}" type="presParOf" srcId="{BB4A2368-FE80-466A-9825-B5BDD4BD9D73}" destId="{01202FDD-EE4A-47D6-B06E-371434632216}" srcOrd="2" destOrd="0" presId="urn:microsoft.com/office/officeart/2018/2/layout/IconLabelList"/>
    <dgm:cxn modelId="{E2FA8C05-56D6-44FC-8A32-9D4074AE7A9A}" type="presParOf" srcId="{01202FDD-EE4A-47D6-B06E-371434632216}" destId="{12C63345-02B5-464B-AFF7-AECE3B09D5D6}" srcOrd="0" destOrd="0" presId="urn:microsoft.com/office/officeart/2018/2/layout/IconLabelList"/>
    <dgm:cxn modelId="{83E3977F-0A8E-4939-8625-7505913EC307}" type="presParOf" srcId="{01202FDD-EE4A-47D6-B06E-371434632216}" destId="{69AA0EF4-7994-41DB-BD8F-A599685E1730}" srcOrd="1" destOrd="0" presId="urn:microsoft.com/office/officeart/2018/2/layout/IconLabelList"/>
    <dgm:cxn modelId="{FB615FA9-B427-484B-927D-C29308DC0274}" type="presParOf" srcId="{01202FDD-EE4A-47D6-B06E-371434632216}" destId="{B8460D45-FB46-43E4-B3EF-DD8279B03B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092627-1C13-4DA4-B154-9940BB44336C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8E61FEB-D04A-41A9-8EFB-9FD70E67A38E}">
      <dgm:prSet/>
      <dgm:spPr/>
      <dgm:t>
        <a:bodyPr/>
        <a:lstStyle/>
        <a:p>
          <a:r>
            <a:rPr lang="pl-PL"/>
            <a:t>Arkusz w którym wprowadzane będą przychody i wydatki zmienne</a:t>
          </a:r>
          <a:endParaRPr lang="en-US"/>
        </a:p>
      </dgm:t>
    </dgm:pt>
    <dgm:pt modelId="{27D4AE3E-EEDF-43B6-BB2D-1C959AEE1B9D}" type="parTrans" cxnId="{22DBB433-B48D-4F10-B1EC-B696A1D9C47C}">
      <dgm:prSet/>
      <dgm:spPr/>
      <dgm:t>
        <a:bodyPr/>
        <a:lstStyle/>
        <a:p>
          <a:endParaRPr lang="en-US"/>
        </a:p>
      </dgm:t>
    </dgm:pt>
    <dgm:pt modelId="{CDEB70A0-0D5C-4949-A09B-11219FB1A283}" type="sibTrans" cxnId="{22DBB433-B48D-4F10-B1EC-B696A1D9C47C}">
      <dgm:prSet/>
      <dgm:spPr/>
      <dgm:t>
        <a:bodyPr/>
        <a:lstStyle/>
        <a:p>
          <a:endParaRPr lang="en-US"/>
        </a:p>
      </dgm:t>
    </dgm:pt>
    <dgm:pt modelId="{0D877180-5C98-4078-9E64-1A451025D1D3}">
      <dgm:prSet/>
      <dgm:spPr/>
      <dgm:t>
        <a:bodyPr/>
        <a:lstStyle/>
        <a:p>
          <a:r>
            <a:rPr lang="pl-PL"/>
            <a:t>Wprowadzenie przychodów i wydatków stałych (w tym zwłaszcza kredytów)</a:t>
          </a:r>
          <a:endParaRPr lang="en-US"/>
        </a:p>
      </dgm:t>
    </dgm:pt>
    <dgm:pt modelId="{8A7ADD87-335F-403D-96A2-ACBECCAE6B58}" type="parTrans" cxnId="{CF88CCC1-E7CC-403C-ACAD-1F21185A0224}">
      <dgm:prSet/>
      <dgm:spPr/>
      <dgm:t>
        <a:bodyPr/>
        <a:lstStyle/>
        <a:p>
          <a:endParaRPr lang="en-US"/>
        </a:p>
      </dgm:t>
    </dgm:pt>
    <dgm:pt modelId="{5E9FF29A-6247-4A44-805B-5015483B8221}" type="sibTrans" cxnId="{CF88CCC1-E7CC-403C-ACAD-1F21185A0224}">
      <dgm:prSet/>
      <dgm:spPr/>
      <dgm:t>
        <a:bodyPr/>
        <a:lstStyle/>
        <a:p>
          <a:endParaRPr lang="en-US"/>
        </a:p>
      </dgm:t>
    </dgm:pt>
    <dgm:pt modelId="{CC08DBC5-A61A-44FE-B2DF-5E3480A7EE27}">
      <dgm:prSet/>
      <dgm:spPr/>
      <dgm:t>
        <a:bodyPr/>
        <a:lstStyle/>
        <a:p>
          <a:r>
            <a:rPr lang="pl-PL"/>
            <a:t>Sprawdzanie czy miesięczny/ roczny budżet „spina się” w całość</a:t>
          </a:r>
          <a:endParaRPr lang="en-US"/>
        </a:p>
      </dgm:t>
    </dgm:pt>
    <dgm:pt modelId="{D7C564DB-EF14-48DA-8F70-0304B9926F56}" type="parTrans" cxnId="{DF364909-9893-4FB1-97DB-640DBD499080}">
      <dgm:prSet/>
      <dgm:spPr/>
      <dgm:t>
        <a:bodyPr/>
        <a:lstStyle/>
        <a:p>
          <a:endParaRPr lang="en-US"/>
        </a:p>
      </dgm:t>
    </dgm:pt>
    <dgm:pt modelId="{587084AF-FF43-4E7A-B5D1-2394E7D3EF69}" type="sibTrans" cxnId="{DF364909-9893-4FB1-97DB-640DBD499080}">
      <dgm:prSet/>
      <dgm:spPr/>
      <dgm:t>
        <a:bodyPr/>
        <a:lstStyle/>
        <a:p>
          <a:endParaRPr lang="en-US"/>
        </a:p>
      </dgm:t>
    </dgm:pt>
    <dgm:pt modelId="{9985948B-B296-49DF-9401-4A073BEECB8F}">
      <dgm:prSet/>
      <dgm:spPr/>
      <dgm:t>
        <a:bodyPr/>
        <a:lstStyle/>
        <a:p>
          <a:r>
            <a:rPr lang="pl-PL"/>
            <a:t>Sprawdzanie czy zasada 50/30/20 została spełniona</a:t>
          </a:r>
          <a:endParaRPr lang="en-US"/>
        </a:p>
      </dgm:t>
    </dgm:pt>
    <dgm:pt modelId="{9808B01A-5678-417A-83CB-3AAB2073374F}" type="parTrans" cxnId="{436C2EAB-B327-482A-A1B9-2B288AA0B336}">
      <dgm:prSet/>
      <dgm:spPr/>
      <dgm:t>
        <a:bodyPr/>
        <a:lstStyle/>
        <a:p>
          <a:endParaRPr lang="en-US"/>
        </a:p>
      </dgm:t>
    </dgm:pt>
    <dgm:pt modelId="{18DD715D-4503-47BF-A1B4-235F2EB74CCF}" type="sibTrans" cxnId="{436C2EAB-B327-482A-A1B9-2B288AA0B336}">
      <dgm:prSet/>
      <dgm:spPr/>
      <dgm:t>
        <a:bodyPr/>
        <a:lstStyle/>
        <a:p>
          <a:endParaRPr lang="en-US"/>
        </a:p>
      </dgm:t>
    </dgm:pt>
    <dgm:pt modelId="{067CEF76-6B92-46C5-80AC-E81E84DF6F4B}" type="pres">
      <dgm:prSet presAssocID="{00092627-1C13-4DA4-B154-9940BB44336C}" presName="matrix" presStyleCnt="0">
        <dgm:presLayoutVars>
          <dgm:chMax val="1"/>
          <dgm:dir/>
          <dgm:resizeHandles val="exact"/>
        </dgm:presLayoutVars>
      </dgm:prSet>
      <dgm:spPr/>
    </dgm:pt>
    <dgm:pt modelId="{D5F2F831-54D8-4942-BF63-0FC7D9688F9D}" type="pres">
      <dgm:prSet presAssocID="{00092627-1C13-4DA4-B154-9940BB44336C}" presName="diamond" presStyleLbl="bgShp" presStyleIdx="0" presStyleCnt="1"/>
      <dgm:spPr/>
    </dgm:pt>
    <dgm:pt modelId="{BDB96B51-7754-48F4-9D58-337B6628A398}" type="pres">
      <dgm:prSet presAssocID="{00092627-1C13-4DA4-B154-9940BB44336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81FA6E5-11C7-4847-B9FE-7FAF72532834}" type="pres">
      <dgm:prSet presAssocID="{00092627-1C13-4DA4-B154-9940BB44336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FCB4F64-4C7F-4395-BD4F-A808F8AAB4CC}" type="pres">
      <dgm:prSet presAssocID="{00092627-1C13-4DA4-B154-9940BB44336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EE98BB2-60F2-41C6-86D2-4B68715A6ED6}" type="pres">
      <dgm:prSet presAssocID="{00092627-1C13-4DA4-B154-9940BB44336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F364909-9893-4FB1-97DB-640DBD499080}" srcId="{00092627-1C13-4DA4-B154-9940BB44336C}" destId="{CC08DBC5-A61A-44FE-B2DF-5E3480A7EE27}" srcOrd="2" destOrd="0" parTransId="{D7C564DB-EF14-48DA-8F70-0304B9926F56}" sibTransId="{587084AF-FF43-4E7A-B5D1-2394E7D3EF69}"/>
    <dgm:cxn modelId="{22DBB433-B48D-4F10-B1EC-B696A1D9C47C}" srcId="{00092627-1C13-4DA4-B154-9940BB44336C}" destId="{98E61FEB-D04A-41A9-8EFB-9FD70E67A38E}" srcOrd="0" destOrd="0" parTransId="{27D4AE3E-EEDF-43B6-BB2D-1C959AEE1B9D}" sibTransId="{CDEB70A0-0D5C-4949-A09B-11219FB1A283}"/>
    <dgm:cxn modelId="{509ADE47-DDC6-4F09-8B12-F3E3E93DBCD5}" type="presOf" srcId="{CC08DBC5-A61A-44FE-B2DF-5E3480A7EE27}" destId="{6FCB4F64-4C7F-4395-BD4F-A808F8AAB4CC}" srcOrd="0" destOrd="0" presId="urn:microsoft.com/office/officeart/2005/8/layout/matrix3"/>
    <dgm:cxn modelId="{3C477978-F5AE-49A7-B1E2-A2F15275AA63}" type="presOf" srcId="{98E61FEB-D04A-41A9-8EFB-9FD70E67A38E}" destId="{BDB96B51-7754-48F4-9D58-337B6628A398}" srcOrd="0" destOrd="0" presId="urn:microsoft.com/office/officeart/2005/8/layout/matrix3"/>
    <dgm:cxn modelId="{436C2EAB-B327-482A-A1B9-2B288AA0B336}" srcId="{00092627-1C13-4DA4-B154-9940BB44336C}" destId="{9985948B-B296-49DF-9401-4A073BEECB8F}" srcOrd="3" destOrd="0" parTransId="{9808B01A-5678-417A-83CB-3AAB2073374F}" sibTransId="{18DD715D-4503-47BF-A1B4-235F2EB74CCF}"/>
    <dgm:cxn modelId="{CF88CCC1-E7CC-403C-ACAD-1F21185A0224}" srcId="{00092627-1C13-4DA4-B154-9940BB44336C}" destId="{0D877180-5C98-4078-9E64-1A451025D1D3}" srcOrd="1" destOrd="0" parTransId="{8A7ADD87-335F-403D-96A2-ACBECCAE6B58}" sibTransId="{5E9FF29A-6247-4A44-805B-5015483B8221}"/>
    <dgm:cxn modelId="{C455C1C2-8C8B-4695-ADA0-D0CD692A59A9}" type="presOf" srcId="{0D877180-5C98-4078-9E64-1A451025D1D3}" destId="{B81FA6E5-11C7-4847-B9FE-7FAF72532834}" srcOrd="0" destOrd="0" presId="urn:microsoft.com/office/officeart/2005/8/layout/matrix3"/>
    <dgm:cxn modelId="{9503DDC3-1010-4B4B-AFA0-6C44914C668E}" type="presOf" srcId="{9985948B-B296-49DF-9401-4A073BEECB8F}" destId="{4EE98BB2-60F2-41C6-86D2-4B68715A6ED6}" srcOrd="0" destOrd="0" presId="urn:microsoft.com/office/officeart/2005/8/layout/matrix3"/>
    <dgm:cxn modelId="{4611A6E6-49E1-45D9-AD52-3D00AA26E8FE}" type="presOf" srcId="{00092627-1C13-4DA4-B154-9940BB44336C}" destId="{067CEF76-6B92-46C5-80AC-E81E84DF6F4B}" srcOrd="0" destOrd="0" presId="urn:microsoft.com/office/officeart/2005/8/layout/matrix3"/>
    <dgm:cxn modelId="{105FB77D-34DA-4649-BF80-CC9F7595B845}" type="presParOf" srcId="{067CEF76-6B92-46C5-80AC-E81E84DF6F4B}" destId="{D5F2F831-54D8-4942-BF63-0FC7D9688F9D}" srcOrd="0" destOrd="0" presId="urn:microsoft.com/office/officeart/2005/8/layout/matrix3"/>
    <dgm:cxn modelId="{D2D9A9A4-581A-478C-8C5F-9B013D1D6B48}" type="presParOf" srcId="{067CEF76-6B92-46C5-80AC-E81E84DF6F4B}" destId="{BDB96B51-7754-48F4-9D58-337B6628A398}" srcOrd="1" destOrd="0" presId="urn:microsoft.com/office/officeart/2005/8/layout/matrix3"/>
    <dgm:cxn modelId="{8445EC5B-600A-405A-8AA5-6571ED11AC1D}" type="presParOf" srcId="{067CEF76-6B92-46C5-80AC-E81E84DF6F4B}" destId="{B81FA6E5-11C7-4847-B9FE-7FAF72532834}" srcOrd="2" destOrd="0" presId="urn:microsoft.com/office/officeart/2005/8/layout/matrix3"/>
    <dgm:cxn modelId="{EDD8C64C-57A3-4045-A083-49203D5623AD}" type="presParOf" srcId="{067CEF76-6B92-46C5-80AC-E81E84DF6F4B}" destId="{6FCB4F64-4C7F-4395-BD4F-A808F8AAB4CC}" srcOrd="3" destOrd="0" presId="urn:microsoft.com/office/officeart/2005/8/layout/matrix3"/>
    <dgm:cxn modelId="{52359566-46C3-4945-B72F-A9028865746D}" type="presParOf" srcId="{067CEF76-6B92-46C5-80AC-E81E84DF6F4B}" destId="{4EE98BB2-60F2-41C6-86D2-4B68715A6ED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834EB3-4CEF-4FAC-AB1C-D3020C6FD90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D5A9186-D6AD-4C3E-87A0-648BD2087119}">
      <dgm:prSet/>
      <dgm:spPr/>
      <dgm:t>
        <a:bodyPr/>
        <a:lstStyle/>
        <a:p>
          <a:r>
            <a:rPr lang="pl-PL"/>
            <a:t>Tworzenie kategorii wydatków</a:t>
          </a:r>
          <a:endParaRPr lang="en-US"/>
        </a:p>
      </dgm:t>
    </dgm:pt>
    <dgm:pt modelId="{DFE0AD04-D9D7-4F27-977A-EC0EAC994798}" type="parTrans" cxnId="{88838BA1-B237-4A0B-9D41-D52F6BD992EA}">
      <dgm:prSet/>
      <dgm:spPr/>
      <dgm:t>
        <a:bodyPr/>
        <a:lstStyle/>
        <a:p>
          <a:endParaRPr lang="en-US"/>
        </a:p>
      </dgm:t>
    </dgm:pt>
    <dgm:pt modelId="{E1AE5767-6A0B-449F-AF82-3302EFCDD9C1}" type="sibTrans" cxnId="{88838BA1-B237-4A0B-9D41-D52F6BD992EA}">
      <dgm:prSet/>
      <dgm:spPr/>
      <dgm:t>
        <a:bodyPr/>
        <a:lstStyle/>
        <a:p>
          <a:endParaRPr lang="en-US"/>
        </a:p>
      </dgm:t>
    </dgm:pt>
    <dgm:pt modelId="{7ED84104-236D-408F-B3F7-F61BB5A0E920}">
      <dgm:prSet/>
      <dgm:spPr/>
      <dgm:t>
        <a:bodyPr/>
        <a:lstStyle/>
        <a:p>
          <a:r>
            <a:rPr lang="pl-PL"/>
            <a:t>Planowanie jak dużą kwotę użytkownik wyda w danym miesiącu na daną kategorię</a:t>
          </a:r>
          <a:endParaRPr lang="en-US"/>
        </a:p>
      </dgm:t>
    </dgm:pt>
    <dgm:pt modelId="{5823E9A5-9830-4208-A870-1546AEB54759}" type="parTrans" cxnId="{4040919B-97D5-409E-B217-67266BDA40D4}">
      <dgm:prSet/>
      <dgm:spPr/>
      <dgm:t>
        <a:bodyPr/>
        <a:lstStyle/>
        <a:p>
          <a:endParaRPr lang="en-US"/>
        </a:p>
      </dgm:t>
    </dgm:pt>
    <dgm:pt modelId="{B7ECC88E-57FB-4191-BBD3-3E0AC075877A}" type="sibTrans" cxnId="{4040919B-97D5-409E-B217-67266BDA40D4}">
      <dgm:prSet/>
      <dgm:spPr/>
      <dgm:t>
        <a:bodyPr/>
        <a:lstStyle/>
        <a:p>
          <a:endParaRPr lang="en-US"/>
        </a:p>
      </dgm:t>
    </dgm:pt>
    <dgm:pt modelId="{2985EA85-D604-41E8-A3D3-E7F4BC5EC037}">
      <dgm:prSet/>
      <dgm:spPr/>
      <dgm:t>
        <a:bodyPr/>
        <a:lstStyle/>
        <a:p>
          <a:r>
            <a:rPr lang="pl-PL"/>
            <a:t>Automatyczne miesięczne i roczne raporty</a:t>
          </a:r>
          <a:endParaRPr lang="en-US"/>
        </a:p>
      </dgm:t>
    </dgm:pt>
    <dgm:pt modelId="{16E0E34A-B43D-4220-A2DD-C8A553373552}" type="parTrans" cxnId="{1C6C5BC0-208B-4DC3-83B9-8402E57C0B16}">
      <dgm:prSet/>
      <dgm:spPr/>
      <dgm:t>
        <a:bodyPr/>
        <a:lstStyle/>
        <a:p>
          <a:endParaRPr lang="en-US"/>
        </a:p>
      </dgm:t>
    </dgm:pt>
    <dgm:pt modelId="{C02DC33D-81AA-4BBB-B7A1-BA235FABA80D}" type="sibTrans" cxnId="{1C6C5BC0-208B-4DC3-83B9-8402E57C0B16}">
      <dgm:prSet/>
      <dgm:spPr/>
      <dgm:t>
        <a:bodyPr/>
        <a:lstStyle/>
        <a:p>
          <a:endParaRPr lang="en-US"/>
        </a:p>
      </dgm:t>
    </dgm:pt>
    <dgm:pt modelId="{FF75E1D5-6D7E-445C-B120-809BC96FD1D3}" type="pres">
      <dgm:prSet presAssocID="{68834EB3-4CEF-4FAC-AB1C-D3020C6FD903}" presName="linear" presStyleCnt="0">
        <dgm:presLayoutVars>
          <dgm:animLvl val="lvl"/>
          <dgm:resizeHandles val="exact"/>
        </dgm:presLayoutVars>
      </dgm:prSet>
      <dgm:spPr/>
    </dgm:pt>
    <dgm:pt modelId="{49AD1AF5-11DA-419B-AAB1-1743D8CC2261}" type="pres">
      <dgm:prSet presAssocID="{7D5A9186-D6AD-4C3E-87A0-648BD20871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660DBCA-5A87-4C37-A1EF-F7B2AA5DA61E}" type="pres">
      <dgm:prSet presAssocID="{E1AE5767-6A0B-449F-AF82-3302EFCDD9C1}" presName="spacer" presStyleCnt="0"/>
      <dgm:spPr/>
    </dgm:pt>
    <dgm:pt modelId="{F06098AC-C86E-4202-AE3B-D84CEA795602}" type="pres">
      <dgm:prSet presAssocID="{7ED84104-236D-408F-B3F7-F61BB5A0E9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ED6B58-836F-4313-8992-688C87FACBF7}" type="pres">
      <dgm:prSet presAssocID="{B7ECC88E-57FB-4191-BBD3-3E0AC075877A}" presName="spacer" presStyleCnt="0"/>
      <dgm:spPr/>
    </dgm:pt>
    <dgm:pt modelId="{657D7E35-B7F0-486A-9C23-D110E51BCE81}" type="pres">
      <dgm:prSet presAssocID="{2985EA85-D604-41E8-A3D3-E7F4BC5EC03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307ED08-F768-460C-9172-229280CFBA4E}" type="presOf" srcId="{68834EB3-4CEF-4FAC-AB1C-D3020C6FD903}" destId="{FF75E1D5-6D7E-445C-B120-809BC96FD1D3}" srcOrd="0" destOrd="0" presId="urn:microsoft.com/office/officeart/2005/8/layout/vList2"/>
    <dgm:cxn modelId="{A7576B18-018E-45FD-9188-981B5D9667D2}" type="presOf" srcId="{2985EA85-D604-41E8-A3D3-E7F4BC5EC037}" destId="{657D7E35-B7F0-486A-9C23-D110E51BCE81}" srcOrd="0" destOrd="0" presId="urn:microsoft.com/office/officeart/2005/8/layout/vList2"/>
    <dgm:cxn modelId="{B1F6B262-71B7-45E9-B37A-0ACB13AF3D84}" type="presOf" srcId="{7D5A9186-D6AD-4C3E-87A0-648BD2087119}" destId="{49AD1AF5-11DA-419B-AAB1-1743D8CC2261}" srcOrd="0" destOrd="0" presId="urn:microsoft.com/office/officeart/2005/8/layout/vList2"/>
    <dgm:cxn modelId="{4040919B-97D5-409E-B217-67266BDA40D4}" srcId="{68834EB3-4CEF-4FAC-AB1C-D3020C6FD903}" destId="{7ED84104-236D-408F-B3F7-F61BB5A0E920}" srcOrd="1" destOrd="0" parTransId="{5823E9A5-9830-4208-A870-1546AEB54759}" sibTransId="{B7ECC88E-57FB-4191-BBD3-3E0AC075877A}"/>
    <dgm:cxn modelId="{88838BA1-B237-4A0B-9D41-D52F6BD992EA}" srcId="{68834EB3-4CEF-4FAC-AB1C-D3020C6FD903}" destId="{7D5A9186-D6AD-4C3E-87A0-648BD2087119}" srcOrd="0" destOrd="0" parTransId="{DFE0AD04-D9D7-4F27-977A-EC0EAC994798}" sibTransId="{E1AE5767-6A0B-449F-AF82-3302EFCDD9C1}"/>
    <dgm:cxn modelId="{739B83B9-0FEC-4523-99DF-124CA78DD3C7}" type="presOf" srcId="{7ED84104-236D-408F-B3F7-F61BB5A0E920}" destId="{F06098AC-C86E-4202-AE3B-D84CEA795602}" srcOrd="0" destOrd="0" presId="urn:microsoft.com/office/officeart/2005/8/layout/vList2"/>
    <dgm:cxn modelId="{1C6C5BC0-208B-4DC3-83B9-8402E57C0B16}" srcId="{68834EB3-4CEF-4FAC-AB1C-D3020C6FD903}" destId="{2985EA85-D604-41E8-A3D3-E7F4BC5EC037}" srcOrd="2" destOrd="0" parTransId="{16E0E34A-B43D-4220-A2DD-C8A553373552}" sibTransId="{C02DC33D-81AA-4BBB-B7A1-BA235FABA80D}"/>
    <dgm:cxn modelId="{189FE09F-FD39-4681-8D9F-2BC2C396138A}" type="presParOf" srcId="{FF75E1D5-6D7E-445C-B120-809BC96FD1D3}" destId="{49AD1AF5-11DA-419B-AAB1-1743D8CC2261}" srcOrd="0" destOrd="0" presId="urn:microsoft.com/office/officeart/2005/8/layout/vList2"/>
    <dgm:cxn modelId="{6B47B926-AF79-4CCD-992B-DDD1C57375AD}" type="presParOf" srcId="{FF75E1D5-6D7E-445C-B120-809BC96FD1D3}" destId="{5660DBCA-5A87-4C37-A1EF-F7B2AA5DA61E}" srcOrd="1" destOrd="0" presId="urn:microsoft.com/office/officeart/2005/8/layout/vList2"/>
    <dgm:cxn modelId="{3203F9F6-F9E3-449D-B533-D9FD7CF3F696}" type="presParOf" srcId="{FF75E1D5-6D7E-445C-B120-809BC96FD1D3}" destId="{F06098AC-C86E-4202-AE3B-D84CEA795602}" srcOrd="2" destOrd="0" presId="urn:microsoft.com/office/officeart/2005/8/layout/vList2"/>
    <dgm:cxn modelId="{01E7B9D7-C57E-46D9-9431-7635F27CDA4F}" type="presParOf" srcId="{FF75E1D5-6D7E-445C-B120-809BC96FD1D3}" destId="{67ED6B58-836F-4313-8992-688C87FACBF7}" srcOrd="3" destOrd="0" presId="urn:microsoft.com/office/officeart/2005/8/layout/vList2"/>
    <dgm:cxn modelId="{D1BE3D69-03B5-4344-93FD-A9D637B278B8}" type="presParOf" srcId="{FF75E1D5-6D7E-445C-B120-809BC96FD1D3}" destId="{657D7E35-B7F0-486A-9C23-D110E51BCE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6078A-7FF5-4B64-9011-989BE3342020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DEA66-5A71-4102-B7AC-0ADB08D62F6A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Podstawowa zasada: wydatki nie mogą przekraczać przychodów</a:t>
          </a:r>
          <a:endParaRPr lang="en-US" sz="3600" kern="1200"/>
        </a:p>
      </dsp:txBody>
      <dsp:txXfrm>
        <a:off x="696297" y="538547"/>
        <a:ext cx="4171627" cy="2590157"/>
      </dsp:txXfrm>
    </dsp:sp>
    <dsp:sp modelId="{E4EB9AA7-9B54-444A-9DF6-3B5D14A561A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CC822-14C5-49E1-BB78-37D219F53F42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Zasada 50/30/20</a:t>
          </a:r>
          <a:endParaRPr lang="en-US" sz="36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BBEF2-DD74-41A3-ADC5-EEAE866929F6}">
      <dsp:nvSpPr>
        <dsp:cNvPr id="0" name=""/>
        <dsp:cNvSpPr/>
      </dsp:nvSpPr>
      <dsp:spPr>
        <a:xfrm>
          <a:off x="1747800" y="40735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6122D-8C9A-4951-ADE7-A3062E2842CC}">
      <dsp:nvSpPr>
        <dsp:cNvPr id="0" name=""/>
        <dsp:cNvSpPr/>
      </dsp:nvSpPr>
      <dsp:spPr>
        <a:xfrm>
          <a:off x="559800" y="282151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Przychody stałe: pensja, świadczenia socjalne</a:t>
          </a:r>
          <a:endParaRPr lang="en-US" sz="1700" kern="1200"/>
        </a:p>
      </dsp:txBody>
      <dsp:txXfrm>
        <a:off x="559800" y="2821519"/>
        <a:ext cx="4320000" cy="720000"/>
      </dsp:txXfrm>
    </dsp:sp>
    <dsp:sp modelId="{12C63345-02B5-464B-AFF7-AECE3B09D5D6}">
      <dsp:nvSpPr>
        <dsp:cNvPr id="0" name=""/>
        <dsp:cNvSpPr/>
      </dsp:nvSpPr>
      <dsp:spPr>
        <a:xfrm>
          <a:off x="6823800" y="40735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60D45-FB46-43E4-B3EF-DD8279B03BCB}">
      <dsp:nvSpPr>
        <dsp:cNvPr id="0" name=""/>
        <dsp:cNvSpPr/>
      </dsp:nvSpPr>
      <dsp:spPr>
        <a:xfrm>
          <a:off x="5635800" y="282151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Przychody zmienne:premie w pracy, zwrot podatku, odsetki z inwestycji, spadki, darowizny</a:t>
          </a:r>
          <a:endParaRPr lang="en-US" sz="1700" kern="1200"/>
        </a:p>
      </dsp:txBody>
      <dsp:txXfrm>
        <a:off x="5635800" y="2821519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2F831-54D8-4942-BF63-0FC7D9688F9D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96B51-7754-48F4-9D58-337B6628A398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Arkusz w którym wprowadzane będą przychody i wydatki zmienne</a:t>
          </a:r>
          <a:endParaRPr lang="en-US" sz="1500" kern="1200"/>
        </a:p>
      </dsp:txBody>
      <dsp:txXfrm>
        <a:off x="3845652" y="478140"/>
        <a:ext cx="1475545" cy="1475545"/>
      </dsp:txXfrm>
    </dsp:sp>
    <dsp:sp modelId="{B81FA6E5-11C7-4847-B9FE-7FAF72532834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Wprowadzenie przychodów i wydatków stałych (w tym zwłaszcza kredytów)</a:t>
          </a:r>
          <a:endParaRPr lang="en-US" sz="1500" kern="1200"/>
        </a:p>
      </dsp:txBody>
      <dsp:txXfrm>
        <a:off x="5606630" y="478140"/>
        <a:ext cx="1475545" cy="1475545"/>
      </dsp:txXfrm>
    </dsp:sp>
    <dsp:sp modelId="{6FCB4F64-4C7F-4395-BD4F-A808F8AAB4CC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Sprawdzanie czy miesięczny/ roczny budżet „spina się” w całość</a:t>
          </a:r>
          <a:endParaRPr lang="en-US" sz="1500" kern="1200"/>
        </a:p>
      </dsp:txBody>
      <dsp:txXfrm>
        <a:off x="3845652" y="2239118"/>
        <a:ext cx="1475545" cy="1475545"/>
      </dsp:txXfrm>
    </dsp:sp>
    <dsp:sp modelId="{4EE98BB2-60F2-41C6-86D2-4B68715A6ED6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Sprawdzanie czy zasada 50/30/20 została spełniona</a:t>
          </a:r>
          <a:endParaRPr lang="en-US" sz="1500" kern="1200"/>
        </a:p>
      </dsp:txBody>
      <dsp:txXfrm>
        <a:off x="5606630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D1AF5-11DA-419B-AAB1-1743D8CC2261}">
      <dsp:nvSpPr>
        <dsp:cNvPr id="0" name=""/>
        <dsp:cNvSpPr/>
      </dsp:nvSpPr>
      <dsp:spPr>
        <a:xfrm>
          <a:off x="0" y="67043"/>
          <a:ext cx="6666833" cy="171375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Tworzenie kategorii wydatków</a:t>
          </a:r>
          <a:endParaRPr lang="en-US" sz="3100" kern="1200"/>
        </a:p>
      </dsp:txBody>
      <dsp:txXfrm>
        <a:off x="83659" y="150702"/>
        <a:ext cx="6499515" cy="1546439"/>
      </dsp:txXfrm>
    </dsp:sp>
    <dsp:sp modelId="{F06098AC-C86E-4202-AE3B-D84CEA795602}">
      <dsp:nvSpPr>
        <dsp:cNvPr id="0" name=""/>
        <dsp:cNvSpPr/>
      </dsp:nvSpPr>
      <dsp:spPr>
        <a:xfrm>
          <a:off x="0" y="1870081"/>
          <a:ext cx="6666833" cy="1713757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Planowanie jak dużą kwotę użytkownik wyda w danym miesiącu na daną kategorię</a:t>
          </a:r>
          <a:endParaRPr lang="en-US" sz="3100" kern="1200"/>
        </a:p>
      </dsp:txBody>
      <dsp:txXfrm>
        <a:off x="83659" y="1953740"/>
        <a:ext cx="6499515" cy="1546439"/>
      </dsp:txXfrm>
    </dsp:sp>
    <dsp:sp modelId="{657D7E35-B7F0-486A-9C23-D110E51BCE81}">
      <dsp:nvSpPr>
        <dsp:cNvPr id="0" name=""/>
        <dsp:cNvSpPr/>
      </dsp:nvSpPr>
      <dsp:spPr>
        <a:xfrm>
          <a:off x="0" y="3673118"/>
          <a:ext cx="6666833" cy="1713757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Automatyczne miesięczne i roczne raporty</a:t>
          </a:r>
          <a:endParaRPr lang="en-US" sz="3100" kern="1200"/>
        </a:p>
      </dsp:txBody>
      <dsp:txXfrm>
        <a:off x="83659" y="3756777"/>
        <a:ext cx="6499515" cy="1546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1FC63A-98C7-8B6D-B001-DFB9F21B3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30F3CE1-9785-9A85-AA04-5492C6AE7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8051C4F-7211-5B71-E8A6-FD78C551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BC72DA-CD0C-05DA-CBE5-CC121110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2DF6B8-81A7-73BF-6B6C-9AF56309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463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6B9700-A372-B62E-356C-2580B5B6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01FF0C-2CC4-0DF3-23B5-73DBDEC6D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17B4660-3441-C063-EEF3-458374E4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537F07-9299-7141-A184-2135A9FA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00FDCDA-0942-7D05-35BC-9F7F3EB3D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199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795BFF-1665-5F05-FB3F-C4FA615E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5CEC8FE-DE4F-20C2-7A3F-D78A65EE0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976298-77BA-8585-F701-90909F89A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F4C22F-53A0-26ED-BCCB-5F7F5688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85ACAEA-72FC-832E-9395-1D96D4FA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05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E29D54-B031-87EE-662B-1F00E45B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7D3790-3904-9AB7-F0E5-D3AF8F728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CE6870A-0D66-425E-CCFB-4C0F2D17C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07180F2-867E-6097-C527-238EAD0A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7AA62EF-D58E-B68E-0179-AE93DA8A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DFB30C9-B485-356E-06DC-4F658716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1029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3A03ED-9B70-4CC3-AB3A-9C4FD7DD0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81CFE62-5A47-D857-A290-6D45F459C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7C3D136-CDFC-8851-1B3D-E93DFD5C4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D6F33BF-F005-398A-8856-E8AF084D4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A691C72-F1FA-17D8-6443-1E712379A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D01AF9F-70C6-9319-3EEB-861454EF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741D738-1FA3-7816-25E9-9C3A0723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E97819B-3D15-0C55-940B-D0F7E6A7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258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739800-9546-1638-B0CA-F96FCB0D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E889821-8C4E-8889-2B37-AC029E5A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DBBB39B-0430-74F8-9311-FEA52A5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D557BBF-F76A-60F9-0BB3-7E1A7EC1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360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7300928-9A9E-3D34-2FF2-9B1ADBE8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75A14F9-E4AC-C10C-BF67-50CDE9AC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BACD0C7-44D1-A4B2-CB5E-FB4A216E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212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6E51CC-5067-392E-1215-5710B85BD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BF52CD-5E5B-2739-4B0F-1C53B4566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1EF6055-01B2-9250-8AD3-E9F2B459E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F57FC90-1F65-51DF-7BA2-FC29BDA6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F8A1519-551F-5705-3AA9-55A34C41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A09B43-10DE-BC40-99C1-6E20A4831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23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B851A4-D35F-990D-4CD5-02235B0F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8F01AFE-0ED8-667A-EE9C-DC20B3377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A64C0F0-FDD1-B7EF-DE63-98D1F00C2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2B624B-CD51-7D60-1683-5B745CC7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18403E5-54D3-BF4B-D2A9-82766DDB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244887-FA0A-2BCA-471C-BF27B695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384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BE7013-795C-849F-C232-414B797B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9F4E32F-0250-A3A8-1209-C0BE4FE5F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D54527-5C05-32F6-1A9B-0B939C98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E49BC5-C1A9-E728-4816-EBAED1A5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DB63B49-C941-4EE4-0B47-92236AD6F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581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A38ACF4-567E-7503-B3BE-DAC7BC76F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D0E5513-ABA9-8C98-BDE4-88199BEE4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90278C4-749A-943C-3D13-E1932E72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181637-35F9-FED6-0C29-4039E0AF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E12767-F492-61CE-4D70-2D54F0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6337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CBC2824-9A88-2617-BEDC-404AAB24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867E87B-9C19-4DB3-9890-6885038B1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D9FBBE-A9AC-74D4-6FB1-B81ED8F4E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04313-CC79-4E61-959B-52A264D848D3}" type="datetimeFigureOut">
              <a:rPr lang="pl-PL" smtClean="0"/>
              <a:t>08.01.2026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B00EF92-FE0E-57E8-316A-97082B690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E6B50C-21C4-0518-AC89-AA1B330A5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5FA02-0B50-4840-8240-EBB6F6B67A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645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pe.gov.pl/a/budzet-domowy/DZ2YypJCs" TargetMode="External"/><Relationship Id="rId2" Type="http://schemas.openxmlformats.org/officeDocument/2006/relationships/hyperlink" Target="https://www.f-trust.pl/radzimy-naszym-klientom/zasada-50-30-20-czyli-jak-skutecznie-zarzadzac-budzetem-domowy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martfinance.blog/7-powerful-strategies-to-optimize-your-savings-and-transform-your-financial-future" TargetMode="External"/><Relationship Id="rId4" Type="http://schemas.openxmlformats.org/officeDocument/2006/relationships/hyperlink" Target="https://www.bankrate.com/banking/savings/how-to-set-savings-goa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2CC552B-71C9-BBA7-E651-74B496B31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E7193D7-89B1-53A2-48F5-AF9336A2E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pl-PL" sz="115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Budżetownik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4D4B465-003D-E759-A5E5-F0F107687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pl-PL" sz="3200"/>
              <a:t>Aplikacja mobilna do planowania domowego budżetu</a:t>
            </a:r>
          </a:p>
        </p:txBody>
      </p:sp>
    </p:spTree>
    <p:extLst>
      <p:ext uri="{BB962C8B-B14F-4D97-AF65-F5344CB8AC3E}">
        <p14:creationId xmlns:p14="http://schemas.microsoft.com/office/powerpoint/2010/main" val="3737352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BBF7A0E-39FF-8F1A-B2F5-B6FD720A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Zasady zarządzania budżetem domowym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D1DC907-B976-5A5D-060E-626770823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86883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756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CF14761-79AB-C9E9-5638-25B84DCD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pl-PL" sz="4000"/>
              <a:t>Koszty zmienne i stałe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49185F2-9BF3-CCB6-CBE6-8EDD93097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pl-PL" sz="2000"/>
              <a:t>Do kosztów stałych zaliczamy opłaty za czynsz, raty kredytu hipotecznego, rachunki za media, abonamenty i ubezpieczenia</a:t>
            </a:r>
          </a:p>
          <a:p>
            <a:r>
              <a:rPr lang="pl-PL" sz="2000"/>
              <a:t>Zmienne: żywność, transport, ubrania, kosmetyki, rozrywka, wydatki sezonowe</a:t>
            </a:r>
          </a:p>
        </p:txBody>
      </p:sp>
      <p:pic>
        <p:nvPicPr>
          <p:cNvPr id="14" name="Picture 4" descr="Kalkulator, pióro, kompas, pieniądze i papier z drukowanymi wykresami">
            <a:extLst>
              <a:ext uri="{FF2B5EF4-FFF2-40B4-BE49-F238E27FC236}">
                <a16:creationId xmlns:a16="http://schemas.microsoft.com/office/drawing/2014/main" id="{19A180B4-7EED-BF15-E44D-5B4669A6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6" r="24496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757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CD4FD78-1841-F76B-FFA7-3A3DC1F7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Przychody zmienne i stałe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9D21146-3301-EB28-EF46-050FE22D8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34689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145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52ADED1-C700-9375-48DF-09B402B7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pl-PL" sz="3800" dirty="0"/>
              <a:t>Jak duży jest przeciętny domowy budżet?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C67E07-0547-B37A-00FA-619E7C49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pl-PL" sz="2200" dirty="0"/>
              <a:t>Przeciętne przychody na osobę w gospodarstwie domowym wynoszą ok. 3100zł</a:t>
            </a:r>
          </a:p>
          <a:p>
            <a:endParaRPr lang="pl-PL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9FC0EF-BCA1-B024-6C7D-2FF6D8333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21860" y="768096"/>
            <a:ext cx="5736155" cy="507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745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8B05CFA-A1AA-7E99-1848-F716BD5C0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Funkcje aplikacji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079AB76-090F-CE0D-AB32-2AD5AC9EC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1293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162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C5B7F49-8920-78AA-A8A6-8ED9F88E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l-PL" sz="3100" dirty="0">
                <a:solidFill>
                  <a:srgbClr val="FFFFFF"/>
                </a:solidFill>
              </a:rPr>
              <a:t>Generowanie miesięcznych raportów, wykresów i statystyk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E4AD221-12C6-46C6-5141-73E5DFC47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68020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12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9DED344-5A2A-165A-B8B4-C4C8214D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l-PL" sz="4000"/>
              <a:t>Flutter, ReactNative czy Swift?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8B16074-A4EE-335A-354E-F3A25986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l-PL" sz="1900"/>
              <a:t>Flutter- jeden kod źródłowy, wysoka wydajność, </a:t>
            </a:r>
            <a:r>
              <a:rPr lang="pl-PL" sz="1900" b="1"/>
              <a:t>ale większy rozmiar aplikacji i konieczność posługiwania się językiem Dart</a:t>
            </a:r>
          </a:p>
          <a:p>
            <a:r>
              <a:rPr lang="pl-PL" sz="1900"/>
              <a:t>ReactNative- używa JavaScript, umożliwia szybką pracę </a:t>
            </a:r>
            <a:r>
              <a:rPr lang="pl-PL" sz="1900" b="1"/>
              <a:t>ale ma problem z bardziej zaawansowanymi funkcjami i animacjami</a:t>
            </a:r>
          </a:p>
          <a:p>
            <a:r>
              <a:rPr lang="pl-PL" sz="1900"/>
              <a:t>Swift- maksymalna jakość, wydajność i stabilność </a:t>
            </a:r>
            <a:r>
              <a:rPr lang="pl-PL" sz="1900" b="1"/>
              <a:t>ale działa wyłącznie na Iphone’y a do Androida konieczne jest napisanie osobnego kodu</a:t>
            </a:r>
          </a:p>
        </p:txBody>
      </p:sp>
      <p:pic>
        <p:nvPicPr>
          <p:cNvPr id="5" name="Picture 4" descr="Cyfrowy wykres finansowy">
            <a:extLst>
              <a:ext uri="{FF2B5EF4-FFF2-40B4-BE49-F238E27FC236}">
                <a16:creationId xmlns:a16="http://schemas.microsoft.com/office/drawing/2014/main" id="{C009160A-36CC-9AB1-2148-DC9D8180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5" r="1732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7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1C5E59-3DB7-9FB9-7426-FD5A6D5A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D11B89-B42F-758F-8188-DDA647554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AECA075D-AF18-32F1-99E8-73A09A14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35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1A18C0-2CD5-6603-E970-BF14036A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Czym jest logika domenowa?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7873E01-42EA-954E-C11A-BAEA266BB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Jest to część aplikacji, która opisuje zasady działania rozwiązywanego problemu, niezależnie od technologii, interfejsu i sposobu zapisu danych</a:t>
            </a:r>
          </a:p>
          <a:p>
            <a:r>
              <a:rPr lang="pl-PL" dirty="0"/>
              <a:t>W przypadku </a:t>
            </a:r>
            <a:r>
              <a:rPr lang="pl-PL" dirty="0" err="1"/>
              <a:t>Budżetownika</a:t>
            </a:r>
            <a:r>
              <a:rPr lang="pl-PL" dirty="0"/>
              <a:t> jest to zbiór reguł mówiących, czym jest przychód i wydatek, czym jest transakcja stała, jak oblicza się saldo, sumy kategorii czy raport miesięczny</a:t>
            </a:r>
          </a:p>
        </p:txBody>
      </p:sp>
    </p:spTree>
    <p:extLst>
      <p:ext uri="{BB962C8B-B14F-4D97-AF65-F5344CB8AC3E}">
        <p14:creationId xmlns:p14="http://schemas.microsoft.com/office/powerpoint/2010/main" val="289900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1F4C83-AE2F-480A-6E91-64BEC6C2D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Czym jest stos technologiczny?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16A2EC-AD73-FE81-F9ED-99A0FFAB8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Zestaw konkretnych technologii, narzędzi i bibliotek wykorzystywanych do tworzenia aplikacji</a:t>
            </a:r>
          </a:p>
          <a:p>
            <a:r>
              <a:rPr lang="pl-PL" dirty="0"/>
              <a:t>Przykładowy stos dla </a:t>
            </a:r>
            <a:r>
              <a:rPr lang="pl-PL" dirty="0" err="1"/>
              <a:t>budżetownia</a:t>
            </a:r>
            <a:r>
              <a:rPr lang="pl-PL" dirty="0"/>
              <a:t>: Expo+ </a:t>
            </a:r>
            <a:r>
              <a:rPr lang="pl-PL" dirty="0" err="1"/>
              <a:t>ReactNative</a:t>
            </a:r>
            <a:r>
              <a:rPr lang="pl-PL" dirty="0"/>
              <a:t> + </a:t>
            </a:r>
            <a:r>
              <a:rPr lang="pl-PL" dirty="0" err="1"/>
              <a:t>TypeScript</a:t>
            </a:r>
            <a:r>
              <a:rPr lang="pl-PL" dirty="0"/>
              <a:t>- warstwa aplikacji, </a:t>
            </a:r>
            <a:r>
              <a:rPr lang="pl-PL" dirty="0" err="1"/>
              <a:t>SQLite</a:t>
            </a:r>
            <a:r>
              <a:rPr lang="pl-PL" dirty="0"/>
              <a:t>- baza danych, </a:t>
            </a:r>
            <a:r>
              <a:rPr lang="pl-PL" dirty="0" err="1"/>
              <a:t>ContextAPI</a:t>
            </a:r>
            <a:r>
              <a:rPr lang="pl-PL" dirty="0"/>
              <a:t>- zarządzanie stanem, </a:t>
            </a:r>
            <a:r>
              <a:rPr lang="pl-PL" dirty="0" err="1"/>
              <a:t>ReactNavigation</a:t>
            </a:r>
            <a:r>
              <a:rPr lang="pl-PL" dirty="0"/>
              <a:t> do nawigacji</a:t>
            </a:r>
          </a:p>
        </p:txBody>
      </p:sp>
    </p:spTree>
    <p:extLst>
      <p:ext uri="{BB962C8B-B14F-4D97-AF65-F5344CB8AC3E}">
        <p14:creationId xmlns:p14="http://schemas.microsoft.com/office/powerpoint/2010/main" val="2599199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3FCA88-FDD6-E0E4-E4CA-AAC38909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Dziękuję za uwagę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1ED684-E54E-6FE4-BDF0-74DF6FF36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/>
              <a:t>Źródła:</a:t>
            </a:r>
          </a:p>
          <a:p>
            <a:r>
              <a:rPr lang="pl-PL" dirty="0">
                <a:hlinkClick r:id="rId2"/>
              </a:rPr>
              <a:t>https://www.f-trust.pl/radzimy-naszym-klientom/zasada-50-30-20-czyli-jak-skutecznie-zarzadzac-budzetem-domowym/</a:t>
            </a:r>
            <a:endParaRPr lang="pl-PL" dirty="0"/>
          </a:p>
          <a:p>
            <a:r>
              <a:rPr lang="pl-PL" dirty="0">
                <a:hlinkClick r:id="rId3"/>
              </a:rPr>
              <a:t>https://zpe.gov.pl/a/budzet-domowy/DZ2YypJCs</a:t>
            </a:r>
            <a:endParaRPr lang="pl-PL" dirty="0"/>
          </a:p>
          <a:p>
            <a:r>
              <a:rPr lang="pl-PL" dirty="0">
                <a:hlinkClick r:id="rId4"/>
              </a:rPr>
              <a:t>https://www.bankrate.com/banking/savings/how-to-set-savings-goals</a:t>
            </a:r>
            <a:endParaRPr lang="pl-PL" dirty="0"/>
          </a:p>
          <a:p>
            <a:r>
              <a:rPr lang="pl-PL" dirty="0">
                <a:hlinkClick r:id="rId5"/>
              </a:rPr>
              <a:t>https://www.smartfinance.blog/7-powerful-strategies-to-optimize-your-savings-and-transform-your-financial-future</a:t>
            </a:r>
            <a:endParaRPr lang="pl-PL" dirty="0"/>
          </a:p>
          <a:p>
            <a:r>
              <a:rPr lang="pl-PL" dirty="0"/>
              <a:t>https://mobilemerit.com/flutter-vs-react-native-vs-swift-which-framework-wins-in-2025/</a:t>
            </a:r>
          </a:p>
        </p:txBody>
      </p:sp>
    </p:spTree>
    <p:extLst>
      <p:ext uri="{BB962C8B-B14F-4D97-AF65-F5344CB8AC3E}">
        <p14:creationId xmlns:p14="http://schemas.microsoft.com/office/powerpoint/2010/main" val="18236014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</TotalTime>
  <Words>387</Words>
  <Application>Microsoft Office PowerPoint</Application>
  <PresentationFormat>Panoramiczny</PresentationFormat>
  <Paragraphs>39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Motyw pakietu Office</vt:lpstr>
      <vt:lpstr>Budżetownik</vt:lpstr>
      <vt:lpstr>Zasady zarządzania budżetem domowym</vt:lpstr>
      <vt:lpstr>Koszty zmienne i stałe</vt:lpstr>
      <vt:lpstr>Przychody zmienne i stałe</vt:lpstr>
      <vt:lpstr>Jak duży jest przeciętny domowy budżet?</vt:lpstr>
      <vt:lpstr>Funkcje aplikacji</vt:lpstr>
      <vt:lpstr>Generowanie miesięcznych raportów, wykresów i statystyk</vt:lpstr>
      <vt:lpstr>Flutter, ReactNative czy Swift?</vt:lpstr>
      <vt:lpstr>Prezentacja programu PowerPoint</vt:lpstr>
      <vt:lpstr>Czym jest logika domenowa?</vt:lpstr>
      <vt:lpstr>Czym jest stos technologiczny?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Depka</dc:creator>
  <cp:lastModifiedBy>Szymon Depka</cp:lastModifiedBy>
  <cp:revision>4</cp:revision>
  <dcterms:created xsi:type="dcterms:W3CDTF">2025-12-11T07:45:47Z</dcterms:created>
  <dcterms:modified xsi:type="dcterms:W3CDTF">2026-01-08T11:12:42Z</dcterms:modified>
</cp:coreProperties>
</file>